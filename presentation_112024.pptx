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47" r:id="rId1"/>
  </p:sldMasterIdLst>
  <p:notesMasterIdLst>
    <p:notesMasterId r:id="rId15"/>
  </p:notesMasterIdLst>
  <p:sldIdLst>
    <p:sldId id="256" r:id="rId2"/>
    <p:sldId id="257" r:id="rId3"/>
    <p:sldId id="258" r:id="rId4"/>
    <p:sldId id="289" r:id="rId5"/>
    <p:sldId id="288" r:id="rId6"/>
    <p:sldId id="264" r:id="rId7"/>
    <p:sldId id="275" r:id="rId8"/>
    <p:sldId id="259" r:id="rId9"/>
    <p:sldId id="286" r:id="rId10"/>
    <p:sldId id="276" r:id="rId11"/>
    <p:sldId id="285" r:id="rId12"/>
    <p:sldId id="271" r:id="rId13"/>
    <p:sldId id="287" r:id="rId14"/>
  </p:sldIdLst>
  <p:sldSz cx="12192000" cy="6858000"/>
  <p:notesSz cx="6858000" cy="9144000"/>
  <p:embeddedFontLst>
    <p:embeddedFont>
      <p:font typeface="Century Gothic" panose="020B0502020202020204" pitchFamily="34" charset="0"/>
      <p:regular r:id="rId16"/>
      <p:bold r:id="rId17"/>
      <p:italic r:id="rId18"/>
      <p:boldItalic r:id="rId19"/>
    </p:embeddedFont>
    <p:embeddedFont>
      <p:font typeface="Wingdings 3" panose="05040102010807070707" pitchFamily="18" charset="2"/>
      <p:regular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jBYPJJxCIQ12M1v33x/uzIxIDz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61" autoAdjust="0"/>
    <p:restoredTop sz="91162" autoAdjust="0"/>
  </p:normalViewPr>
  <p:slideViewPr>
    <p:cSldViewPr snapToGrid="0">
      <p:cViewPr>
        <p:scale>
          <a:sx n="100" d="100"/>
          <a:sy n="100" d="100"/>
        </p:scale>
        <p:origin x="76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8" name="Google Shape;1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>
          <a:extLst>
            <a:ext uri="{FF2B5EF4-FFF2-40B4-BE49-F238E27FC236}">
              <a16:creationId xmlns:a16="http://schemas.microsoft.com/office/drawing/2014/main" id="{3B24DB18-2DBC-7EE1-E3AB-27FF9120C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>
            <a:extLst>
              <a:ext uri="{FF2B5EF4-FFF2-40B4-BE49-F238E27FC236}">
                <a16:creationId xmlns:a16="http://schemas.microsoft.com/office/drawing/2014/main" id="{49F68492-1515-E249-8FB9-0207CA125D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</p:txBody>
      </p:sp>
      <p:sp>
        <p:nvSpPr>
          <p:cNvPr id="207" name="Google Shape;207;p12:notes">
            <a:extLst>
              <a:ext uri="{FF2B5EF4-FFF2-40B4-BE49-F238E27FC236}">
                <a16:creationId xmlns:a16="http://schemas.microsoft.com/office/drawing/2014/main" id="{2FA6D44B-A2F2-1F43-C7D3-4B1F8672C2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55415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E22F475D-D0FC-0892-D65E-800F2833B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>
            <a:extLst>
              <a:ext uri="{FF2B5EF4-FFF2-40B4-BE49-F238E27FC236}">
                <a16:creationId xmlns:a16="http://schemas.microsoft.com/office/drawing/2014/main" id="{78AA55EF-03B7-43A2-B34A-C4CCA15299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1:notes">
            <a:extLst>
              <a:ext uri="{FF2B5EF4-FFF2-40B4-BE49-F238E27FC236}">
                <a16:creationId xmlns:a16="http://schemas.microsoft.com/office/drawing/2014/main" id="{64C49E4E-618E-88F6-F104-00A5F0C681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76362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1737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1221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7005088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5510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3820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260822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5647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602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736629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780660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312176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5454584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727859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3846738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792217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91417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9058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fr-FR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6088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p1"/>
          <p:cNvSpPr/>
          <p:nvPr/>
        </p:nvSpPr>
        <p:spPr>
          <a:xfrm rot="-5400000">
            <a:off x="-650724" y="650724"/>
            <a:ext cx="6858000" cy="5556552"/>
          </a:xfrm>
          <a:custGeom>
            <a:avLst/>
            <a:gdLst/>
            <a:ahLst/>
            <a:cxnLst/>
            <a:rect l="l" t="t" r="r" b="b"/>
            <a:pathLst>
              <a:path w="6858000" h="5556552" extrusionOk="0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"/>
          <p:cNvSpPr txBox="1">
            <a:spLocks noGrp="1"/>
          </p:cNvSpPr>
          <p:nvPr>
            <p:ph type="ctrTitle"/>
          </p:nvPr>
        </p:nvSpPr>
        <p:spPr>
          <a:xfrm>
            <a:off x="5115658" y="427551"/>
            <a:ext cx="6850965" cy="330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400"/>
              <a:buFont typeface="Century Gothic"/>
              <a:buNone/>
            </a:pPr>
            <a:r>
              <a:rPr lang="fr-FR" sz="4400" dirty="0"/>
              <a:t>Analysez des indicateurs de l’égalité femme-homme</a:t>
            </a:r>
            <a:endParaRPr dirty="0"/>
          </a:p>
        </p:txBody>
      </p:sp>
      <p:sp>
        <p:nvSpPr>
          <p:cNvPr id="122" name="Google Shape;122;p1"/>
          <p:cNvSpPr txBox="1">
            <a:spLocks noGrp="1"/>
          </p:cNvSpPr>
          <p:nvPr>
            <p:ph type="subTitle" idx="1"/>
          </p:nvPr>
        </p:nvSpPr>
        <p:spPr>
          <a:xfrm>
            <a:off x="643466" y="2281574"/>
            <a:ext cx="3994015" cy="2294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-FR" sz="2800" dirty="0">
                <a:solidFill>
                  <a:schemeClr val="bg1"/>
                </a:solidFill>
              </a:rPr>
              <a:t>Damien Ribreau</a:t>
            </a:r>
            <a:endParaRPr sz="2800" dirty="0">
              <a:solidFill>
                <a:schemeClr val="bg1"/>
              </a:solidFill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1F518F0-9230-E869-D604-8C439B644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</a:t>
            </a:fld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B407CE5-39BD-58D6-BED0-052FFC7E6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450" y="3471255"/>
            <a:ext cx="3424747" cy="31389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dirty="0"/>
              <a:t>Contexte</a:t>
            </a:r>
            <a:endParaRPr sz="3200" dirty="0"/>
          </a:p>
        </p:txBody>
      </p:sp>
      <p:sp>
        <p:nvSpPr>
          <p:cNvPr id="131" name="Google Shape;131;p2"/>
          <p:cNvSpPr txBox="1">
            <a:spLocks noGrp="1"/>
          </p:cNvSpPr>
          <p:nvPr>
            <p:ph idx="1"/>
          </p:nvPr>
        </p:nvSpPr>
        <p:spPr>
          <a:xfrm>
            <a:off x="258373" y="2634488"/>
            <a:ext cx="10554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Analyser des indicateurs sur l’égalité femme-homme.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7F62243-5C50-15C5-E08C-417F81EFD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</a:t>
            </a:fld>
            <a:endParaRPr lang="fr-FR"/>
          </a:p>
        </p:txBody>
      </p:sp>
      <p:pic>
        <p:nvPicPr>
          <p:cNvPr id="2050" name="Picture 2" descr="Le mémoire : questionnements. | art, langage, apprentissage">
            <a:extLst>
              <a:ext uri="{FF2B5EF4-FFF2-40B4-BE49-F238E27FC236}">
                <a16:creationId xmlns:a16="http://schemas.microsoft.com/office/drawing/2014/main" id="{FAB0959B-8CE0-D1C1-526B-5A41A29B1B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671" y="3720502"/>
            <a:ext cx="2962656" cy="2962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dirty="0"/>
              <a:t>Décomposition d’un  problème complexe en plusieurs problèmes simples</a:t>
            </a:r>
            <a:endParaRPr sz="3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A52594C-C82F-EB73-D9D5-252C43626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</a:t>
            </a:fld>
            <a:endParaRPr lang="fr-FR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C35EC3F0-6264-7203-602E-E32F6FF41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470" y="2675872"/>
            <a:ext cx="8291059" cy="3432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021D52-CCF0-4285-B60D-73A38A2A3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RGPD </a:t>
            </a:r>
            <a:r>
              <a:rPr lang="fr-FR" sz="1600" dirty="0"/>
              <a:t>(Règlement Général sur la Protection des Données)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452FEF-4563-F871-6C5F-0703F0DDE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000" dirty="0"/>
              <a:t>Les 5 principes :</a:t>
            </a:r>
          </a:p>
          <a:p>
            <a:pPr lvl="1"/>
            <a:r>
              <a:rPr lang="fr-FR" sz="1800" dirty="0"/>
              <a:t>Finalité</a:t>
            </a:r>
          </a:p>
          <a:p>
            <a:pPr lvl="1"/>
            <a:r>
              <a:rPr lang="fr-FR" sz="1800" dirty="0"/>
              <a:t>Proportionnalité et pertinence</a:t>
            </a:r>
          </a:p>
          <a:p>
            <a:pPr lvl="1"/>
            <a:r>
              <a:rPr lang="fr-FR" sz="1800" dirty="0"/>
              <a:t>Durée de conservation</a:t>
            </a:r>
          </a:p>
          <a:p>
            <a:pPr lvl="1"/>
            <a:r>
              <a:rPr lang="fr-FR" sz="1800" dirty="0"/>
              <a:t>Sécurité et confidentialité</a:t>
            </a:r>
          </a:p>
          <a:p>
            <a:pPr lvl="1"/>
            <a:r>
              <a:rPr lang="fr-FR" sz="1800" dirty="0"/>
              <a:t>Droits des personnes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FC99685-C185-4D88-D5D2-8BAA73C83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4388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 descr="Une image contenant ligne, diagramme, Tracé, capture d’écran&#10;&#10;Description générée automatiquement">
            <a:extLst>
              <a:ext uri="{FF2B5EF4-FFF2-40B4-BE49-F238E27FC236}">
                <a16:creationId xmlns:a16="http://schemas.microsoft.com/office/drawing/2014/main" id="{56864B2A-48B2-07F6-9088-89105DA801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886"/>
          <a:stretch/>
        </p:blipFill>
        <p:spPr>
          <a:xfrm>
            <a:off x="6240363" y="2718751"/>
            <a:ext cx="5818288" cy="1136891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8DD35C4-C304-BAE4-0936-27EAD2DF9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763485"/>
            <a:ext cx="8761413" cy="988482"/>
          </a:xfrm>
        </p:spPr>
        <p:txBody>
          <a:bodyPr/>
          <a:lstStyle/>
          <a:p>
            <a:r>
              <a:rPr lang="fr-FR" dirty="0"/>
              <a:t>Un résultat de 67% malgré une cible à 85%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B3B872A-F95C-C1B7-6C0E-E6B7E7A09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5</a:t>
            </a:fld>
            <a:endParaRPr lang="fr-FR"/>
          </a:p>
        </p:txBody>
      </p:sp>
      <p:pic>
        <p:nvPicPr>
          <p:cNvPr id="9" name="Image 8" descr="Une image contenant ligne, capture d’écran&#10;&#10;Description générée automatiquement">
            <a:extLst>
              <a:ext uri="{FF2B5EF4-FFF2-40B4-BE49-F238E27FC236}">
                <a16:creationId xmlns:a16="http://schemas.microsoft.com/office/drawing/2014/main" id="{281E8B6B-DB59-6796-D411-9D13EF3090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914"/>
          <a:stretch/>
        </p:blipFill>
        <p:spPr>
          <a:xfrm>
            <a:off x="421435" y="4898874"/>
            <a:ext cx="8262649" cy="1650982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pic>
        <p:nvPicPr>
          <p:cNvPr id="25" name="Image 24" descr="Une image contenant capture d’écran, diagramme, Rectangle, Tracé&#10;&#10;Description générée automatiquement">
            <a:extLst>
              <a:ext uri="{FF2B5EF4-FFF2-40B4-BE49-F238E27FC236}">
                <a16:creationId xmlns:a16="http://schemas.microsoft.com/office/drawing/2014/main" id="{41B603A7-5E20-7D27-2DE1-1FA769F3224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3229"/>
          <a:stretch/>
        </p:blipFill>
        <p:spPr>
          <a:xfrm>
            <a:off x="640510" y="2462057"/>
            <a:ext cx="5455490" cy="1933885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C79810DD-BD8E-D8C8-9AA1-404D3B8A92FA}"/>
              </a:ext>
            </a:extLst>
          </p:cNvPr>
          <p:cNvSpPr txBox="1"/>
          <p:nvPr/>
        </p:nvSpPr>
        <p:spPr>
          <a:xfrm>
            <a:off x="2154367" y="2580252"/>
            <a:ext cx="78576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1200" dirty="0"/>
              <a:t>5267,08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5056C4A-2FF6-3615-D72F-707A45762857}"/>
              </a:ext>
            </a:extLst>
          </p:cNvPr>
          <p:cNvSpPr txBox="1"/>
          <p:nvPr/>
        </p:nvSpPr>
        <p:spPr>
          <a:xfrm>
            <a:off x="4338707" y="2580253"/>
            <a:ext cx="78576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1200" dirty="0"/>
              <a:t>5383,25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2039E40-29F1-E33A-4BC8-14229F7B385A}"/>
              </a:ext>
            </a:extLst>
          </p:cNvPr>
          <p:cNvSpPr txBox="1"/>
          <p:nvPr/>
        </p:nvSpPr>
        <p:spPr>
          <a:xfrm>
            <a:off x="1031129" y="2449117"/>
            <a:ext cx="8929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37/40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51E0CD6-4365-38CD-A4BC-788FCA799542}"/>
              </a:ext>
            </a:extLst>
          </p:cNvPr>
          <p:cNvSpPr txBox="1"/>
          <p:nvPr/>
        </p:nvSpPr>
        <p:spPr>
          <a:xfrm>
            <a:off x="11165730" y="3486310"/>
            <a:ext cx="8929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15/35</a:t>
            </a:r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40A6D50-0611-28E6-B83B-E591D9DE2F73}"/>
              </a:ext>
            </a:extLst>
          </p:cNvPr>
          <p:cNvSpPr txBox="1"/>
          <p:nvPr/>
        </p:nvSpPr>
        <p:spPr>
          <a:xfrm>
            <a:off x="7927229" y="4898874"/>
            <a:ext cx="8929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5/10</a:t>
            </a:r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A498A75-E4C8-6AAE-0A45-26EC8CB1EFF6}"/>
              </a:ext>
            </a:extLst>
          </p:cNvPr>
          <p:cNvSpPr txBox="1"/>
          <p:nvPr/>
        </p:nvSpPr>
        <p:spPr>
          <a:xfrm>
            <a:off x="9819154" y="5448184"/>
            <a:ext cx="1951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Total :</a:t>
            </a:r>
          </a:p>
          <a:p>
            <a:r>
              <a:rPr lang="fr-FR" dirty="0"/>
              <a:t>57/85 =&gt; 67/100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CD941BA-B4E9-5EF6-E21D-B4F57971835A}"/>
              </a:ext>
            </a:extLst>
          </p:cNvPr>
          <p:cNvSpPr txBox="1"/>
          <p:nvPr/>
        </p:nvSpPr>
        <p:spPr>
          <a:xfrm>
            <a:off x="8128000" y="2718751"/>
            <a:ext cx="72686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1400" dirty="0"/>
              <a:t>56%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42A394F-9E97-593A-5022-C85D5F7904C8}"/>
              </a:ext>
            </a:extLst>
          </p:cNvPr>
          <p:cNvSpPr txBox="1"/>
          <p:nvPr/>
        </p:nvSpPr>
        <p:spPr>
          <a:xfrm>
            <a:off x="10463878" y="2794753"/>
            <a:ext cx="72686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1400" dirty="0"/>
              <a:t>48%</a:t>
            </a:r>
          </a:p>
        </p:txBody>
      </p:sp>
    </p:spTree>
    <p:extLst>
      <p:ext uri="{BB962C8B-B14F-4D97-AF65-F5344CB8AC3E}">
        <p14:creationId xmlns:p14="http://schemas.microsoft.com/office/powerpoint/2010/main" val="1621085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>
            <a:spLocks noGrp="1"/>
          </p:cNvSpPr>
          <p:nvPr>
            <p:ph type="title"/>
          </p:nvPr>
        </p:nvSpPr>
        <p:spPr>
          <a:xfrm>
            <a:off x="819151" y="459317"/>
            <a:ext cx="8943524" cy="133138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dirty="0"/>
              <a:t>Une médiane plus basse pour les femmes</a:t>
            </a:r>
            <a:endParaRPr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13C071F-62CA-C4C1-3AA0-BD0839860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6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65A3207-F28B-8388-E353-65D24EC29012}"/>
              </a:ext>
            </a:extLst>
          </p:cNvPr>
          <p:cNvSpPr txBox="1"/>
          <p:nvPr/>
        </p:nvSpPr>
        <p:spPr>
          <a:xfrm>
            <a:off x="2123281" y="5884332"/>
            <a:ext cx="3533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Salaire moyen femme : 5267 €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ACA69AA-8261-9C3B-F39B-7404B7C131F3}"/>
              </a:ext>
            </a:extLst>
          </p:cNvPr>
          <p:cNvSpPr txBox="1"/>
          <p:nvPr/>
        </p:nvSpPr>
        <p:spPr>
          <a:xfrm>
            <a:off x="7237864" y="5884332"/>
            <a:ext cx="3725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Salaire moyen homme : 5383 €</a:t>
            </a:r>
          </a:p>
        </p:txBody>
      </p:sp>
      <p:pic>
        <p:nvPicPr>
          <p:cNvPr id="3" name="Image 2" descr="Une image contenant diagramme, ligne, Tracé, capture d’écran&#10;&#10;Description générée automatiquement">
            <a:extLst>
              <a:ext uri="{FF2B5EF4-FFF2-40B4-BE49-F238E27FC236}">
                <a16:creationId xmlns:a16="http://schemas.microsoft.com/office/drawing/2014/main" id="{A09CD314-B221-1B48-FAC8-36B44EF845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3750"/>
          <a:stretch/>
        </p:blipFill>
        <p:spPr>
          <a:xfrm>
            <a:off x="1447800" y="2504595"/>
            <a:ext cx="9296400" cy="3144210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4294A7E5-4FF8-0FA7-0523-164FF20DABB2}"/>
              </a:ext>
            </a:extLst>
          </p:cNvPr>
          <p:cNvSpPr txBox="1"/>
          <p:nvPr/>
        </p:nvSpPr>
        <p:spPr>
          <a:xfrm>
            <a:off x="4160521" y="3907795"/>
            <a:ext cx="609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4975 €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9669A56-736A-DFEA-9249-5F8CDCB89C47}"/>
              </a:ext>
            </a:extLst>
          </p:cNvPr>
          <p:cNvSpPr txBox="1"/>
          <p:nvPr/>
        </p:nvSpPr>
        <p:spPr>
          <a:xfrm>
            <a:off x="8816341" y="3807470"/>
            <a:ext cx="609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5450 €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0EBE32A-A524-5131-3A98-4597EDC1D2FC}"/>
              </a:ext>
            </a:extLst>
          </p:cNvPr>
          <p:cNvSpPr txBox="1"/>
          <p:nvPr/>
        </p:nvSpPr>
        <p:spPr>
          <a:xfrm>
            <a:off x="4160521" y="3368675"/>
            <a:ext cx="609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7550 €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771B895-ABFC-EC8E-B457-76C4093EC161}"/>
              </a:ext>
            </a:extLst>
          </p:cNvPr>
          <p:cNvSpPr txBox="1"/>
          <p:nvPr/>
        </p:nvSpPr>
        <p:spPr>
          <a:xfrm>
            <a:off x="8816341" y="3441138"/>
            <a:ext cx="609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7350 €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98565E2-D651-B335-533D-589DFF2FFCA4}"/>
              </a:ext>
            </a:extLst>
          </p:cNvPr>
          <p:cNvSpPr txBox="1"/>
          <p:nvPr/>
        </p:nvSpPr>
        <p:spPr>
          <a:xfrm>
            <a:off x="4160521" y="4265225"/>
            <a:ext cx="609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3150 €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02C21B0-98FE-D49F-2FA5-20A6E2E01098}"/>
              </a:ext>
            </a:extLst>
          </p:cNvPr>
          <p:cNvSpPr txBox="1"/>
          <p:nvPr/>
        </p:nvSpPr>
        <p:spPr>
          <a:xfrm>
            <a:off x="8816341" y="4304607"/>
            <a:ext cx="609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2900 €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DBF097C-B961-064C-522A-86B58CE86272}"/>
              </a:ext>
            </a:extLst>
          </p:cNvPr>
          <p:cNvSpPr txBox="1"/>
          <p:nvPr/>
        </p:nvSpPr>
        <p:spPr>
          <a:xfrm>
            <a:off x="4187192" y="4695405"/>
            <a:ext cx="609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1050 €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47043E5-FA9C-1CA5-E6F8-31F10731145D}"/>
              </a:ext>
            </a:extLst>
          </p:cNvPr>
          <p:cNvSpPr txBox="1"/>
          <p:nvPr/>
        </p:nvSpPr>
        <p:spPr>
          <a:xfrm>
            <a:off x="8850632" y="4670939"/>
            <a:ext cx="609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1100 €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2771255-7F61-252E-6854-9FAB347BDAD4}"/>
              </a:ext>
            </a:extLst>
          </p:cNvPr>
          <p:cNvSpPr txBox="1"/>
          <p:nvPr/>
        </p:nvSpPr>
        <p:spPr>
          <a:xfrm>
            <a:off x="4187192" y="2891975"/>
            <a:ext cx="609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9900 €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66D7AB8-E54A-511D-476C-A6882A877E8F}"/>
              </a:ext>
            </a:extLst>
          </p:cNvPr>
          <p:cNvSpPr txBox="1"/>
          <p:nvPr/>
        </p:nvSpPr>
        <p:spPr>
          <a:xfrm>
            <a:off x="8816341" y="2878599"/>
            <a:ext cx="74675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10 000 €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>
          <a:extLst>
            <a:ext uri="{FF2B5EF4-FFF2-40B4-BE49-F238E27FC236}">
              <a16:creationId xmlns:a16="http://schemas.microsoft.com/office/drawing/2014/main" id="{558AA970-5CD7-8309-1F31-94B7079DA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">
            <a:extLst>
              <a:ext uri="{FF2B5EF4-FFF2-40B4-BE49-F238E27FC236}">
                <a16:creationId xmlns:a16="http://schemas.microsoft.com/office/drawing/2014/main" id="{78E1A17D-353D-B823-17EF-F4EFB72F6B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8100" y="803596"/>
            <a:ext cx="10994904" cy="76768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dirty="0"/>
              <a:t>Quasi-égalité pour les promotions</a:t>
            </a:r>
            <a:endParaRPr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E49E0E3-537E-0D47-ED6C-E0200A08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7</a:t>
            </a:fld>
            <a:endParaRPr lang="fr-FR"/>
          </a:p>
        </p:txBody>
      </p:sp>
      <p:pic>
        <p:nvPicPr>
          <p:cNvPr id="6" name="Image 5" descr="Une image contenant capture d’écran, diagramme, conception&#10;&#10;Description générée automatiquement">
            <a:extLst>
              <a:ext uri="{FF2B5EF4-FFF2-40B4-BE49-F238E27FC236}">
                <a16:creationId xmlns:a16="http://schemas.microsoft.com/office/drawing/2014/main" id="{CCF5B8AC-FF07-D378-5D79-F30964AC6C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958" r="38437"/>
          <a:stretch/>
        </p:blipFill>
        <p:spPr>
          <a:xfrm>
            <a:off x="3492500" y="2451689"/>
            <a:ext cx="5207000" cy="4192505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pic>
        <p:nvPicPr>
          <p:cNvPr id="12" name="Image 11" descr="Une image contenant capture d’écran, diagramme, conception&#10;&#10;Description générée automatiquement">
            <a:extLst>
              <a:ext uri="{FF2B5EF4-FFF2-40B4-BE49-F238E27FC236}">
                <a16:creationId xmlns:a16="http://schemas.microsoft.com/office/drawing/2014/main" id="{5510C69F-E358-50F7-CE95-C5059BC4CE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5833" b="86630"/>
          <a:stretch/>
        </p:blipFill>
        <p:spPr>
          <a:xfrm>
            <a:off x="3616988" y="2451689"/>
            <a:ext cx="2607730" cy="447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311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912608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Une répartition inégale</a:t>
            </a:r>
            <a:endParaRPr sz="3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58A7E63-08CF-3AF9-BAB7-11177632D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8</a:t>
            </a:fld>
            <a:endParaRPr lang="fr-FR"/>
          </a:p>
        </p:txBody>
      </p:sp>
      <p:pic>
        <p:nvPicPr>
          <p:cNvPr id="5" name="Image 4" descr="Une image contenant capture d’écran, diagramme, Rectangle, ligne&#10;&#10;Description générée automatiquement">
            <a:extLst>
              <a:ext uri="{FF2B5EF4-FFF2-40B4-BE49-F238E27FC236}">
                <a16:creationId xmlns:a16="http://schemas.microsoft.com/office/drawing/2014/main" id="{897C676B-BCA0-176B-A63E-4581F07DAB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213"/>
          <a:stretch/>
        </p:blipFill>
        <p:spPr>
          <a:xfrm>
            <a:off x="409575" y="2419120"/>
            <a:ext cx="11190739" cy="4143151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CEF693-D7B7-3AAA-156B-C7E98E0F6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1" y="447188"/>
            <a:ext cx="11427604" cy="1248262"/>
          </a:xfrm>
        </p:spPr>
        <p:txBody>
          <a:bodyPr/>
          <a:lstStyle/>
          <a:p>
            <a:r>
              <a:rPr lang="fr-FR" dirty="0"/>
              <a:t>32h une forte prédominance de femmes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26C7D7A-FB34-4D63-1169-C5F949EBD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9</a:t>
            </a:fld>
            <a:endParaRPr lang="fr-FR"/>
          </a:p>
        </p:txBody>
      </p:sp>
      <p:pic>
        <p:nvPicPr>
          <p:cNvPr id="10" name="Image 9" descr="Une image contenant capture d’écran, ligne, diagramme, Tracé&#10;&#10;Description générée automatiquement">
            <a:extLst>
              <a:ext uri="{FF2B5EF4-FFF2-40B4-BE49-F238E27FC236}">
                <a16:creationId xmlns:a16="http://schemas.microsoft.com/office/drawing/2014/main" id="{2E9D642D-7E32-D2E5-9279-C93724B379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404"/>
          <a:stretch/>
        </p:blipFill>
        <p:spPr>
          <a:xfrm>
            <a:off x="127736" y="3103166"/>
            <a:ext cx="11936527" cy="2397953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290763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>
          <a:extLst>
            <a:ext uri="{FF2B5EF4-FFF2-40B4-BE49-F238E27FC236}">
              <a16:creationId xmlns:a16="http://schemas.microsoft.com/office/drawing/2014/main" id="{60B8C490-052A-2F65-E0C2-A30FCB1F3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>
            <a:extLst>
              <a:ext uri="{FF2B5EF4-FFF2-40B4-BE49-F238E27FC236}">
                <a16:creationId xmlns:a16="http://schemas.microsoft.com/office/drawing/2014/main" id="{55FD3006-8C68-1BA0-39C4-3993FD3C46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0000" y="447187"/>
            <a:ext cx="10802880" cy="19150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Une stabilité d’emploi plus compliquée </a:t>
            </a:r>
            <a:br>
              <a:rPr lang="fr-FR" sz="3200" dirty="0"/>
            </a:br>
            <a:r>
              <a:rPr lang="fr-FR" sz="3200" dirty="0"/>
              <a:t>pour les femmes</a:t>
            </a:r>
            <a:br>
              <a:rPr lang="fr-FR" sz="3200" dirty="0"/>
            </a:br>
            <a:endParaRPr sz="320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AB20022-4E02-B020-AAEF-AA726CD65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10</a:t>
            </a:fld>
            <a:endParaRPr lang="fr-FR"/>
          </a:p>
        </p:txBody>
      </p:sp>
      <p:pic>
        <p:nvPicPr>
          <p:cNvPr id="4" name="Image 3" descr="Une image contenant ligne, diagramme, Tracé, capture d’écran&#10;&#10;Description générée automatiquement">
            <a:extLst>
              <a:ext uri="{FF2B5EF4-FFF2-40B4-BE49-F238E27FC236}">
                <a16:creationId xmlns:a16="http://schemas.microsoft.com/office/drawing/2014/main" id="{9FADDFF1-3755-3976-5493-61CFA4C1CB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297"/>
          <a:stretch/>
        </p:blipFill>
        <p:spPr>
          <a:xfrm>
            <a:off x="174661" y="3033894"/>
            <a:ext cx="11842678" cy="2376305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368941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CEF693-D7B7-3AAA-156B-C7E98E0F6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Exposition similaire aux risques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B77CF21-1322-6309-8B1B-FF7CD547D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11</a:t>
            </a:fld>
            <a:endParaRPr lang="fr-FR"/>
          </a:p>
        </p:txBody>
      </p:sp>
      <p:pic>
        <p:nvPicPr>
          <p:cNvPr id="10" name="Image 9" descr="Une image contenant capture d’écran, diagramme, conception&#10;&#10;Description générée automatiquement">
            <a:extLst>
              <a:ext uri="{FF2B5EF4-FFF2-40B4-BE49-F238E27FC236}">
                <a16:creationId xmlns:a16="http://schemas.microsoft.com/office/drawing/2014/main" id="{EC2B72EB-A926-9F0F-11BE-A48499BACA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479" r="39271"/>
          <a:stretch/>
        </p:blipFill>
        <p:spPr>
          <a:xfrm>
            <a:off x="3600449" y="2433820"/>
            <a:ext cx="4991101" cy="4274762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pic>
        <p:nvPicPr>
          <p:cNvPr id="15" name="Image 14" descr="Une image contenant capture d’écran, diagramme, conception&#10;&#10;Description générée automatiquement">
            <a:extLst>
              <a:ext uri="{FF2B5EF4-FFF2-40B4-BE49-F238E27FC236}">
                <a16:creationId xmlns:a16="http://schemas.microsoft.com/office/drawing/2014/main" id="{3F7CF733-981B-8BF4-4EDE-5EC6BED428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083" b="84913"/>
          <a:stretch/>
        </p:blipFill>
        <p:spPr>
          <a:xfrm>
            <a:off x="3708400" y="2433820"/>
            <a:ext cx="2930194" cy="44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004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roup 234">
            <a:extLst>
              <a:ext uri="{FF2B5EF4-FFF2-40B4-BE49-F238E27FC236}">
                <a16:creationId xmlns:a16="http://schemas.microsoft.com/office/drawing/2014/main" id="{6503EB0F-2257-4A3E-A73B-E1DE769B4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77012B2A-0D78-433A-8C68-8889D3DCD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49" name="Freeform 5">
              <a:extLst>
                <a:ext uri="{FF2B5EF4-FFF2-40B4-BE49-F238E27FC236}">
                  <a16:creationId xmlns:a16="http://schemas.microsoft.com/office/drawing/2014/main" id="{119D0202-ED3F-47CC-90E9-4E963BCDAB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50" name="Rectangle 249">
            <a:extLst>
              <a:ext uri="{FF2B5EF4-FFF2-40B4-BE49-F238E27FC236}">
                <a16:creationId xmlns:a16="http://schemas.microsoft.com/office/drawing/2014/main" id="{670D6F2B-93AF-47D6-9378-5E54BE0AC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 useBgFill="1">
        <p:nvSpPr>
          <p:cNvPr id="251" name="Rectangle 250">
            <a:extLst>
              <a:ext uri="{FF2B5EF4-FFF2-40B4-BE49-F238E27FC236}">
                <a16:creationId xmlns:a16="http://schemas.microsoft.com/office/drawing/2014/main" id="{56981798-4550-46DA-9172-4846E2FB6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D82EB7D3-3AD8-4ED1-9E1A-2906E1463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flipH="1">
            <a:off x="423335" y="404829"/>
            <a:ext cx="44788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30" name="Google Shape;230;p15"/>
          <p:cNvSpPr txBox="1">
            <a:spLocks noGrp="1"/>
          </p:cNvSpPr>
          <p:nvPr>
            <p:ph type="title"/>
          </p:nvPr>
        </p:nvSpPr>
        <p:spPr>
          <a:xfrm>
            <a:off x="486334" y="394637"/>
            <a:ext cx="4089633" cy="966019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>
              <a:spcAft>
                <a:spcPts val="0"/>
              </a:spcAft>
              <a:buClr>
                <a:srgbClr val="FEFEFE"/>
              </a:buClr>
              <a:buSzPts val="4000"/>
            </a:pPr>
            <a:r>
              <a:rPr lang="en-US" sz="5400" dirty="0">
                <a:solidFill>
                  <a:schemeClr val="tx2"/>
                </a:solidFill>
              </a:rPr>
              <a:t>Conclusion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95B33D2-28BE-F82D-0285-1DE918E092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" b="8974"/>
          <a:stretch/>
        </p:blipFill>
        <p:spPr>
          <a:xfrm>
            <a:off x="5120117" y="461681"/>
            <a:ext cx="6585549" cy="5934638"/>
          </a:xfrm>
          <a:custGeom>
            <a:avLst/>
            <a:gdLst/>
            <a:ahLst/>
            <a:cxnLst/>
            <a:rect l="l" t="t" r="r" b="b"/>
            <a:pathLst>
              <a:path w="6585549" h="5934638">
                <a:moveTo>
                  <a:pt x="225406" y="0"/>
                </a:moveTo>
                <a:lnTo>
                  <a:pt x="6585549" y="0"/>
                </a:lnTo>
                <a:lnTo>
                  <a:pt x="6585549" y="5934638"/>
                </a:lnTo>
                <a:lnTo>
                  <a:pt x="226600" y="5934638"/>
                </a:lnTo>
                <a:lnTo>
                  <a:pt x="214529" y="5856373"/>
                </a:lnTo>
                <a:lnTo>
                  <a:pt x="203238" y="5780097"/>
                </a:lnTo>
                <a:lnTo>
                  <a:pt x="191320" y="5689292"/>
                </a:lnTo>
                <a:lnTo>
                  <a:pt x="177049" y="5581536"/>
                </a:lnTo>
                <a:lnTo>
                  <a:pt x="161995" y="5462279"/>
                </a:lnTo>
                <a:lnTo>
                  <a:pt x="146156" y="5327888"/>
                </a:lnTo>
                <a:lnTo>
                  <a:pt x="129376" y="5181389"/>
                </a:lnTo>
                <a:lnTo>
                  <a:pt x="112596" y="5022177"/>
                </a:lnTo>
                <a:lnTo>
                  <a:pt x="95503" y="4852675"/>
                </a:lnTo>
                <a:lnTo>
                  <a:pt x="79664" y="4669854"/>
                </a:lnTo>
                <a:lnTo>
                  <a:pt x="64453" y="4478558"/>
                </a:lnTo>
                <a:lnTo>
                  <a:pt x="50652" y="4276365"/>
                </a:lnTo>
                <a:lnTo>
                  <a:pt x="37480" y="4065697"/>
                </a:lnTo>
                <a:lnTo>
                  <a:pt x="25091" y="3845949"/>
                </a:lnTo>
                <a:lnTo>
                  <a:pt x="20700" y="3733351"/>
                </a:lnTo>
                <a:lnTo>
                  <a:pt x="15838" y="3618331"/>
                </a:lnTo>
                <a:lnTo>
                  <a:pt x="11291" y="3501495"/>
                </a:lnTo>
                <a:lnTo>
                  <a:pt x="8311" y="3384054"/>
                </a:lnTo>
                <a:lnTo>
                  <a:pt x="5645" y="3264191"/>
                </a:lnTo>
                <a:lnTo>
                  <a:pt x="2822" y="3143118"/>
                </a:lnTo>
                <a:lnTo>
                  <a:pt x="941" y="3019623"/>
                </a:lnTo>
                <a:lnTo>
                  <a:pt x="941" y="2894918"/>
                </a:lnTo>
                <a:lnTo>
                  <a:pt x="0" y="2769001"/>
                </a:lnTo>
                <a:lnTo>
                  <a:pt x="941" y="2641874"/>
                </a:lnTo>
                <a:lnTo>
                  <a:pt x="2822" y="2512931"/>
                </a:lnTo>
                <a:lnTo>
                  <a:pt x="4547" y="2383988"/>
                </a:lnTo>
                <a:lnTo>
                  <a:pt x="8311" y="2253229"/>
                </a:lnTo>
                <a:lnTo>
                  <a:pt x="12232" y="2121259"/>
                </a:lnTo>
                <a:lnTo>
                  <a:pt x="16779" y="1989289"/>
                </a:lnTo>
                <a:lnTo>
                  <a:pt x="23209" y="1856108"/>
                </a:lnTo>
                <a:lnTo>
                  <a:pt x="30893" y="1721716"/>
                </a:lnTo>
                <a:lnTo>
                  <a:pt x="38264" y="1586720"/>
                </a:lnTo>
                <a:lnTo>
                  <a:pt x="47673" y="1451723"/>
                </a:lnTo>
                <a:lnTo>
                  <a:pt x="58964" y="1314910"/>
                </a:lnTo>
                <a:lnTo>
                  <a:pt x="70255" y="1179913"/>
                </a:lnTo>
                <a:lnTo>
                  <a:pt x="83271" y="1042495"/>
                </a:lnTo>
                <a:lnTo>
                  <a:pt x="97542" y="904471"/>
                </a:lnTo>
                <a:lnTo>
                  <a:pt x="112596" y="768263"/>
                </a:lnTo>
                <a:lnTo>
                  <a:pt x="130160" y="630240"/>
                </a:lnTo>
                <a:lnTo>
                  <a:pt x="148978" y="492821"/>
                </a:lnTo>
                <a:lnTo>
                  <a:pt x="167640" y="354798"/>
                </a:lnTo>
                <a:lnTo>
                  <a:pt x="189438" y="217380"/>
                </a:lnTo>
                <a:lnTo>
                  <a:pt x="211706" y="80567"/>
                </a:lnTo>
                <a:close/>
              </a:path>
            </a:pathLst>
          </a:custGeom>
        </p:spPr>
      </p:pic>
      <p:sp>
        <p:nvSpPr>
          <p:cNvPr id="253" name="Freeform 5">
            <a:extLst>
              <a:ext uri="{FF2B5EF4-FFF2-40B4-BE49-F238E27FC236}">
                <a16:creationId xmlns:a16="http://schemas.microsoft.com/office/drawing/2014/main" id="{2D529E20-662F-4915-ACD7-970C026FD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677511" flipH="1">
            <a:off x="3545327" y="190332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323E75-5123-5617-0AF8-91A8171A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Indicateur général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F31253-DA93-BA4E-4C6F-9D77B2550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470149"/>
            <a:ext cx="8825659" cy="4035425"/>
          </a:xfrm>
        </p:spPr>
        <p:txBody>
          <a:bodyPr>
            <a:normAutofit/>
          </a:bodyPr>
          <a:lstStyle/>
          <a:p>
            <a:r>
              <a:rPr lang="fr-FR" dirty="0"/>
              <a:t>Ecart de rémunération : entre 2% et 3% =&gt; 37/40</a:t>
            </a:r>
          </a:p>
          <a:p>
            <a:pPr lvl="1"/>
            <a:endParaRPr lang="fr-FR" dirty="0"/>
          </a:p>
          <a:p>
            <a:r>
              <a:rPr lang="fr-FR" dirty="0"/>
              <a:t>Ecart taux d’augmentation individuelle :  8% =&gt; 15/35</a:t>
            </a:r>
          </a:p>
          <a:p>
            <a:endParaRPr lang="fr-FR" dirty="0"/>
          </a:p>
          <a:p>
            <a:r>
              <a:rPr lang="fr-FR" dirty="0"/>
              <a:t>Nombre de salariés du sexe sous-représenté parmi les 10 salariés ayant perçu les plus hautes rémunérations : 3 femmes et 7 hommes =&gt; 5/10</a:t>
            </a:r>
          </a:p>
          <a:p>
            <a:endParaRPr lang="fr-FR" dirty="0"/>
          </a:p>
          <a:p>
            <a:r>
              <a:rPr lang="fr-FR" dirty="0"/>
              <a:t>Score total : 57/85</a:t>
            </a:r>
          </a:p>
          <a:p>
            <a:endParaRPr lang="fr-FR" dirty="0"/>
          </a:p>
          <a:p>
            <a:r>
              <a:rPr lang="fr-FR" dirty="0"/>
              <a:t>Score final : 67/100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30D642-066E-86DC-34EC-65796065F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97809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le d’ions">
  <a:themeElements>
    <a:clrScheme name="Salle d’ions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Salle d’ions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lle d’ions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3820</TotalTime>
  <Words>212</Words>
  <Application>Microsoft Office PowerPoint</Application>
  <PresentationFormat>Grand écran</PresentationFormat>
  <Paragraphs>64</Paragraphs>
  <Slides>13</Slides>
  <Notes>8</Notes>
  <HiddenSlides>1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Wingdings 3</vt:lpstr>
      <vt:lpstr>Century Gothic</vt:lpstr>
      <vt:lpstr>Calibri</vt:lpstr>
      <vt:lpstr>Arial</vt:lpstr>
      <vt:lpstr>Salle d’ions</vt:lpstr>
      <vt:lpstr>Analysez des indicateurs de l’égalité femme-homme</vt:lpstr>
      <vt:lpstr>Contexte</vt:lpstr>
      <vt:lpstr>Décomposition d’un  problème complexe en plusieurs problèmes simples</vt:lpstr>
      <vt:lpstr>RGPD (Règlement Général sur la Protection des Données)</vt:lpstr>
      <vt:lpstr>Un résultat de 67% malgré une cible à 85%</vt:lpstr>
      <vt:lpstr>Une médiane plus basse pour les femmes</vt:lpstr>
      <vt:lpstr>Quasi-égalité pour les promotions</vt:lpstr>
      <vt:lpstr>Une répartition inégale</vt:lpstr>
      <vt:lpstr>32h une forte prédominance de femmes</vt:lpstr>
      <vt:lpstr>Une stabilité d’emploi plus compliquée  pour les femmes </vt:lpstr>
      <vt:lpstr>Exposition similaire aux risques</vt:lpstr>
      <vt:lpstr>Conclusion</vt:lpstr>
      <vt:lpstr>Indicateur général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Étude sur l’alimentation dans le monde</dc:title>
  <dc:creator>JeY jEy</dc:creator>
  <cp:lastModifiedBy>RIBREAU Damien</cp:lastModifiedBy>
  <cp:revision>106</cp:revision>
  <dcterms:created xsi:type="dcterms:W3CDTF">2023-03-17T20:58:30Z</dcterms:created>
  <dcterms:modified xsi:type="dcterms:W3CDTF">2024-11-29T09:26:38Z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